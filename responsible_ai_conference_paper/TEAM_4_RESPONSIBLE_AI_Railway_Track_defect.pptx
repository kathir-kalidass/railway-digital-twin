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FFFFFF"/>
                </a:solidFill>
              </a:rPr>
              <a:t>AI-Based Railway Track Defect Detection in India</a:t>
            </a:r>
          </a:p>
          <a:p>
            <a:pPr algn="ctr"/>
            <a:r>
              <a:rPr sz="2400">
                <a:solidFill>
                  <a:srgbClr val="BDD7EE"/>
                </a:solidFill>
              </a:rPr>
              <a:t>False Negatives, Safety Assurance and Human Accountability</a:t>
            </a:r>
          </a:p>
          <a:p>
            <a:pPr algn="ctr"/>
            <a:r>
              <a:rPr sz="1600">
                <a:solidFill>
                  <a:srgbClr val="D4AC0D"/>
                </a:solidFill>
              </a:rPr>
              <a:t>Responsible AI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C8DE0-8D11-262B-6C98-0279051A6E57}"/>
              </a:ext>
            </a:extLst>
          </p:cNvPr>
          <p:cNvSpPr txBox="1"/>
          <p:nvPr/>
        </p:nvSpPr>
        <p:spPr>
          <a:xfrm>
            <a:off x="7300453" y="3994042"/>
            <a:ext cx="3554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kern="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+mn-lt"/>
                <a:ea typeface="Times New Roman" panose="02020603050405020304" pitchFamily="18" charset="0"/>
              </a:rPr>
              <a:t>By Team: 4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81B73F-F622-ED26-A9AF-B8A203402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275190"/>
              </p:ext>
            </p:extLst>
          </p:nvPr>
        </p:nvGraphicFramePr>
        <p:xfrm>
          <a:off x="8293437" y="4477464"/>
          <a:ext cx="3692085" cy="1323568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745239">
                  <a:extLst>
                    <a:ext uri="{9D8B030D-6E8A-4147-A177-3AD203B41FA5}">
                      <a16:colId xmlns:a16="http://schemas.microsoft.com/office/drawing/2014/main" val="847278778"/>
                    </a:ext>
                  </a:extLst>
                </a:gridCol>
                <a:gridCol w="1946846">
                  <a:extLst>
                    <a:ext uri="{9D8B030D-6E8A-4147-A177-3AD203B41FA5}">
                      <a16:colId xmlns:a16="http://schemas.microsoft.com/office/drawing/2014/main" val="4138333711"/>
                    </a:ext>
                  </a:extLst>
                </a:gridCol>
              </a:tblGrid>
              <a:tr h="330892">
                <a:tc>
                  <a:txBody>
                    <a:bodyPr/>
                    <a:lstStyle/>
                    <a:p>
                      <a:pPr marL="90170" marR="85725" algn="just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2023103032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0170" marR="85725"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Jivetesh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504853954"/>
                  </a:ext>
                </a:extLst>
              </a:tr>
              <a:tr h="330892">
                <a:tc>
                  <a:txBody>
                    <a:bodyPr/>
                    <a:lstStyle/>
                    <a:p>
                      <a:pPr marL="90170" marR="85725" algn="l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2023103546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90170" marR="85725"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Kathir Kalidass B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611353998"/>
                  </a:ext>
                </a:extLst>
              </a:tr>
              <a:tr h="330892">
                <a:tc>
                  <a:txBody>
                    <a:bodyPr/>
                    <a:lstStyle/>
                    <a:p>
                      <a:pPr marL="90170" marR="85725" algn="just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2023103570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90170" marR="85725"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Dhinesh Babu C M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497982088"/>
                  </a:ext>
                </a:extLst>
              </a:tr>
              <a:tr h="330892">
                <a:tc>
                  <a:txBody>
                    <a:bodyPr/>
                    <a:lstStyle/>
                    <a:p>
                      <a:pPr marL="90170" marR="85725" algn="just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2023103714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90170" marR="85725" algn="ctr">
                        <a:lnSpc>
                          <a:spcPct val="115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Paril T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2424016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1.  Domain Context -- Indian Railway Safety Challenges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2.  Why AI? -- Opportunities, Limitations &amp; Critical Distinctions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3.  Technical Approach -- CNN Architecture for Defect Detection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4.  Results -- Performance, False Negative Rate &amp; Robustness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5.  Explainability -- Grad-CAM Visualizations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6.  Framework -- Human-in-the-Loop Pipeline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7.  Responsible AI Principles -- Safety, Accountability, Governance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600">
                <a:solidFill>
                  <a:srgbClr val="262626"/>
                </a:solidFill>
              </a:rPr>
              <a:t>8. 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Indian Railways -- A Safety-Critical Domain</a:t>
            </a:r>
          </a:p>
          <a:p>
            <a:r>
              <a:rPr sz="1400">
                <a:solidFill>
                  <a:srgbClr val="BDD7EE"/>
                </a:solidFill>
              </a:rPr>
              <a:t>68,000+ km of track | 23M+ daily passengers | Safety cannot be compromised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Network Scale: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68,000+ route-kilometres across diverse geography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13,000+ passenger trains, 9,000+ freight trains daily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23+ million passengers daily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sz="1400">
              <a:solidFill>
                <a:srgbClr val="262626"/>
              </a:solidFill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Inspection Challenges: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TRCs, patrolling -- effective but infrequent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Human fatigue &amp; visibility affect quality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Continuous monitoring impossible at this scale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sz="1400">
              <a:solidFill>
                <a:srgbClr val="262626"/>
              </a:solidFill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AI Opportunity: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High-frequency surface defect monitoring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• Flag sections for priority human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Critical Distinction: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SURFACE defects (detectable by AI):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  - Transverse cracks, head checks, squats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  - Shelling, surface corrosion, wear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sz="1400">
              <a:solidFill>
                <a:srgbClr val="262626"/>
              </a:solidFill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INTERNAL flaws (require NDT):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  - Hydrogen cracks, gauge corner cracking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  - Weld defects, internal fractures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sz="1400">
              <a:solidFill>
                <a:srgbClr val="262626"/>
              </a:solidFill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RDSO T-53 (2020): Ultrasonic testing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remains mandatory for compliance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endParaRPr sz="1400">
              <a:solidFill>
                <a:srgbClr val="262626"/>
              </a:solidFill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AI visual inspection = DECISION-SUPPORT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>
                <a:solidFill>
                  <a:srgbClr val="262626"/>
                </a:solidFill>
              </a:rPr>
              <a:t>  tool, not a replacement for NDT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Technical Approach -- CNN Architecture</a:t>
            </a:r>
          </a:p>
          <a:p>
            <a:r>
              <a:rPr sz="1400">
                <a:solidFill>
                  <a:srgbClr val="BDD7EE"/>
                </a:solidFill>
              </a:rPr>
              <a:t>Binary classification: Defective vs Normal rail surface</a:t>
            </a:r>
          </a:p>
        </p:txBody>
      </p:sp>
      <p:pic>
        <p:nvPicPr>
          <p:cNvPr id="3" name="Picture 2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Model: Convolutional Neural Network (CNN)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4 Conv blocks: 32 -&gt; 64 -&gt; 128 -&gt; 256 filters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Global Average Pooling + FC(512) + Dropout(0.5)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Binary output (Sigmoid)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Input: 200x200 RGB rail surface images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Training: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Adam optimiser, LR = 0.001, 50 epochs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Augmentation: rotation, flip, brightness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Early stopping on validation loss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Explainability: Grad-CAM attention heatmaps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Key Innovation: Weighted loss (w_FN=10, w_FP=1)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penalises missed defects 10x more than false alarms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Results -- Performance &amp; Robustness</a:t>
            </a:r>
          </a:p>
        </p:txBody>
      </p:sp>
      <p:pic>
        <p:nvPicPr>
          <p:cNvPr id="3" name="Picture 2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85216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Performance (Ideal Conditions):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Accuracy:   93.2%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Precision:  94.1%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Recall:     91.5%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F1-Score:   92.8%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FNR:        8.5%  ⚠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Robustness Findings: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FNR increases 2.7x under adverse conditions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Shadow occlusion causes largest FNR jump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• Accuracy alone is an unsafe metric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⚠  1 in 12 defects missed in ideal conditions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⚠  1 in 4 defects missed in worst-case field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Explainability -- Grad-CAM Visualizations</a:t>
            </a:r>
          </a:p>
          <a:p>
            <a:r>
              <a:rPr sz="1400">
                <a:solidFill>
                  <a:srgbClr val="BDD7EE"/>
                </a:solidFill>
              </a:rPr>
              <a:t>Understanding why the model makes its decisions</a:t>
            </a:r>
          </a:p>
        </p:txBody>
      </p:sp>
      <p:pic>
        <p:nvPicPr>
          <p:cNvPr id="3" name="Picture 2" descr="fig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97280"/>
            <a:ext cx="768096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Grad-CAM highlights regions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the model attended to: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(a) Correct Detection: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Heatmap on crack region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→ Model learned correctly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(b) Missed Detection: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Heatmap on ballast (wrong!)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→ Spurious correlation learned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(c) False Positive: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Heatmap on shadow pattern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  → Texture confusion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endParaRPr sz="1300">
              <a:solidFill>
                <a:srgbClr val="262626"/>
              </a:solidFill>
            </a:endParaRP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Inspectors use heatmaps to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300">
                <a:solidFill>
                  <a:srgbClr val="262626"/>
                </a:solidFill>
              </a:rPr>
              <a:t>verify or override AI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Proposed Human-in-the-Loop Framework</a:t>
            </a:r>
          </a:p>
          <a:p>
            <a:r>
              <a:rPr sz="1400">
                <a:solidFill>
                  <a:srgbClr val="BDD7EE"/>
                </a:solidFill>
              </a:rPr>
              <a:t>AI supports inspectors -- never replaces them</a:t>
            </a:r>
          </a:p>
        </p:txBody>
      </p:sp>
      <p:pic>
        <p:nvPicPr>
          <p:cNvPr id="3" name="Picture 2" descr="fi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2E75B6"/>
                </a:solidFill>
              </a:rPr>
              <a:t>Seven-stage pipeline: Image Capture -&gt; AI Detection -&gt; Grad-CAM -&gt; Confidence Routing -&gt; Inspector Review -&gt; Maintenance -&gt; Audit Log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2E75B6"/>
                </a:solidFill>
              </a:rPr>
              <a:t>Low-confidence classifications trigger mandatory manual inspection. Inspectors always retain override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Responsible AI Principles for Railway Inspection</a:t>
            </a:r>
          </a:p>
        </p:txBody>
      </p:sp>
      <p:pic>
        <p:nvPicPr>
          <p:cNvPr id="3" name="Picture 2" descr="fig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7724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1097280"/>
            <a:ext cx="3657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Six Core Principles: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1. </a:t>
            </a:r>
            <a:r>
              <a:rPr sz="1400" b="1" dirty="0">
                <a:solidFill>
                  <a:srgbClr val="262626"/>
                </a:solidFill>
              </a:rPr>
              <a:t>Safety &amp; Robustness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FNR &lt; 5%, field 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2.</a:t>
            </a:r>
            <a:r>
              <a:rPr sz="1400" b="1" dirty="0">
                <a:solidFill>
                  <a:srgbClr val="262626"/>
                </a:solidFill>
              </a:rPr>
              <a:t> Explainability</a:t>
            </a:r>
            <a:endParaRPr sz="1200" b="1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Grad-CAM for trust &amp; debugging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3. </a:t>
            </a:r>
            <a:r>
              <a:rPr sz="1400" b="1" dirty="0">
                <a:solidFill>
                  <a:srgbClr val="262626"/>
                </a:solidFill>
              </a:rPr>
              <a:t>Accountability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Clear roles, RDSO alignment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4. </a:t>
            </a:r>
            <a:r>
              <a:rPr sz="1400" b="1" dirty="0">
                <a:solidFill>
                  <a:srgbClr val="262626"/>
                </a:solidFill>
              </a:rPr>
              <a:t>Human Oversight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Mandatory review, override right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5. </a:t>
            </a:r>
            <a:r>
              <a:rPr sz="1400" b="1" dirty="0">
                <a:solidFill>
                  <a:srgbClr val="262626"/>
                </a:solidFill>
              </a:rPr>
              <a:t>Fairness &amp; Inclusion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Cross-region, defect-type 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endParaRPr sz="1200" dirty="0">
              <a:solidFill>
                <a:srgbClr val="262626"/>
              </a:solidFill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6. </a:t>
            </a:r>
            <a:r>
              <a:rPr sz="1400" b="1" dirty="0">
                <a:solidFill>
                  <a:srgbClr val="262626"/>
                </a:solidFill>
              </a:rPr>
              <a:t>Privacy &amp; Security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 dirty="0">
                <a:solidFill>
                  <a:srgbClr val="262626"/>
                </a:solidFill>
              </a:rPr>
              <a:t>   Access control,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Recommendations for Responsible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Do NOT deploy standalone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operate within existing governance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Report FALSE NEGATIVE RATE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not just overall accuracy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Maintain ultrasonic testing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AI cannot replace NDT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Confidence-based escalation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low confidence = mandatory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Explicit accountability chains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who reviews, authorises, is responsible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Environmental robustness testing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validate per railway division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Explainability from design phase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    -- not retrofitted for compliance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endParaRPr sz="1500">
              <a:solidFill>
                <a:srgbClr val="262626"/>
              </a:solidFill>
            </a:endParaRP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The goal: AI that augments inspector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capability while maintaining the safety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500">
                <a:solidFill>
                  <a:srgbClr val="262626"/>
                </a:solidFill>
              </a:rPr>
              <a:t>assurance passengers depend upon.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1484"/>
            <a:ext cx="12188952" cy="2743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5600" b="1" dirty="0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2400" dirty="0">
                <a:solidFill>
                  <a:srgbClr val="BDD7EE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2E75B6"/>
                </a:solidFill>
              </a:rPr>
              <a:t>CEG, Anna University | Responsible 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858</Words>
  <Application>Microsoft Office PowerPoint</Application>
  <PresentationFormat>Custom</PresentationFormat>
  <Paragraphs>162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Kathir Kalidass</cp:lastModifiedBy>
  <cp:revision>2</cp:revision>
  <dcterms:created xsi:type="dcterms:W3CDTF">2013-01-27T09:14:16Z</dcterms:created>
  <dcterms:modified xsi:type="dcterms:W3CDTF">2026-10-11T08:21:21Z</dcterms:modified>
  <cp:category/>
</cp:coreProperties>
</file>